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39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91440"/>
          </a:xfrm>
          <a:prstGeom prst="rect">
            <a:avLst/>
          </a:prstGeom>
          <a:solidFill>
            <a:srgbClr val="F8D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8D706"/>
                </a:solidFill>
              </a:defRPr>
            </a:pPr>
            <a:r>
              <a:t>Flipkart Product &amp; Price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E-commerce Retail Analytics &amp; Pricing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8D706"/>
                </a:solidFill>
              </a:defRPr>
            </a:pPr>
            <a:r>
              <a:t>Author: Ankush Saini</a:t>
            </a:r>
          </a:p>
          <a:p>
            <a:pPr algn="ctr">
              <a:defRPr sz="1600">
                <a:solidFill>
                  <a:srgbClr val="FFFFFF"/>
                </a:solidFill>
              </a:defRPr>
            </a:pPr>
            <a:r>
              <a:t>Domain: E-commerce Retail Analytics, Pricing Strategy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Version 1.0 | Status: Completed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8D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12239E"/>
                </a:solidFill>
              </a:defRPr>
            </a:pPr>
            <a: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>
                <a:solidFill>
                  <a:srgbClr val="12239E"/>
                </a:solidFill>
              </a:defRPr>
            </a:pPr>
            <a:r>
              <a:t>Understanding Flipkart's Pricing &amp; Discounting Strategy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11277295" cy="1280160"/>
          </a:xfrm>
          <a:prstGeom prst="roundRect">
            <a:avLst/>
          </a:prstGeom>
          <a:solidFill>
            <a:srgbClr val="1223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8D706"/>
                </a:solidFill>
              </a:defRPr>
            </a:pPr>
            <a:r>
              <a:t>Critical Metrics: retail_price, discounted_price, discount_percentage, product_rating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Key Questions: Which categories drive volume vs value? How does discounting vary by category and brand? Does pricing impact customer satisfaction?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017520"/>
            <a:ext cx="11277295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2239E"/>
                </a:solidFill>
              </a:defRPr>
            </a:pPr>
            <a:r>
              <a:t>Primary Objectives:</a:t>
            </a:r>
          </a:p>
          <a:p>
            <a:pPr>
              <a:spcAft>
                <a:spcPts val="1000"/>
              </a:spcAft>
              <a:defRPr sz="1400">
                <a:solidFill>
                  <a:srgbClr val="12239E"/>
                </a:solidFill>
              </a:defRPr>
            </a:pPr>
            <a:r>
              <a:t>• Data Cleaning &amp; Transformation: Convert 20,000 raw records with 15 unstructured columns into structured analytical dataset</a:t>
            </a:r>
          </a:p>
          <a:p>
            <a:pPr>
              <a:spcAft>
                <a:spcPts val="1000"/>
              </a:spcAft>
              <a:defRPr sz="1400">
                <a:solidFill>
                  <a:srgbClr val="12239E"/>
                </a:solidFill>
              </a:defRPr>
            </a:pPr>
            <a:r>
              <a:t>• Exploratory Data Analysis (EDA): Uncover distribution patterns for price, discount, rating, category, and brand</a:t>
            </a:r>
          </a:p>
          <a:p>
            <a:pPr>
              <a:spcAft>
                <a:spcPts val="1000"/>
              </a:spcAft>
              <a:defRPr sz="1400">
                <a:solidFill>
                  <a:srgbClr val="12239E"/>
                </a:solidFill>
              </a:defRPr>
            </a:pPr>
            <a:r>
              <a:t>• Quantitative Modelling: Build predictive model to quantify impact of retail price and discount on final selling price</a:t>
            </a:r>
          </a:p>
          <a:p>
            <a:pPr>
              <a:spcAft>
                <a:spcPts val="1000"/>
              </a:spcAft>
              <a:defRPr sz="1400">
                <a:solidFill>
                  <a:srgbClr val="12239E"/>
                </a:solidFill>
              </a:defRPr>
            </a:pPr>
            <a:r>
              <a:t>• Visualization &amp; BI: Build 5-panel Power BI dashboard for executive decision making on pricing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8D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12239E"/>
                </a:solidFill>
              </a:defRPr>
            </a:pPr>
            <a:r>
              <a:t>Dataset Description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>
                <a:solidFill>
                  <a:srgbClr val="12239E"/>
                </a:solidFill>
              </a:defRPr>
            </a:pPr>
            <a:r>
              <a:t>From Raw to Clean: Data Quality Transformation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2560320" cy="1188720"/>
          </a:xfrm>
          <a:prstGeom prst="roundRect">
            <a:avLst/>
          </a:prstGeom>
          <a:solidFill>
            <a:srgbClr val="12239E"/>
          </a:solidFill>
          <a:ln w="25400">
            <a:solidFill>
              <a:srgbClr val="F8D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8D706"/>
                </a:solidFill>
              </a:defRPr>
            </a:pPr>
            <a:r>
              <a:t>Total Records (Raw)</a:t>
            </a:r>
          </a:p>
          <a:p>
            <a:pPr algn="ctr">
              <a:defRPr sz="2400" b="1">
                <a:solidFill>
                  <a:srgbClr val="F8D706"/>
                </a:solidFill>
              </a:defRPr>
            </a:pPr>
            <a:r>
              <a:t>20,000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1463040"/>
            <a:ext cx="2560320" cy="1188720"/>
          </a:xfrm>
          <a:prstGeom prst="roundRect">
            <a:avLst/>
          </a:prstGeom>
          <a:solidFill>
            <a:srgbClr val="12239E"/>
          </a:solidFill>
          <a:ln w="25400">
            <a:solidFill>
              <a:srgbClr val="F8D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8D706"/>
                </a:solidFill>
              </a:defRPr>
            </a:pPr>
            <a:r>
              <a:t>Total Records (Clean)</a:t>
            </a:r>
          </a:p>
          <a:p>
            <a:pPr algn="ctr">
              <a:defRPr sz="2400" b="1">
                <a:solidFill>
                  <a:srgbClr val="F8D706"/>
                </a:solidFill>
              </a:defRPr>
            </a:pPr>
            <a:r>
              <a:t>1,849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1463040"/>
            <a:ext cx="2560320" cy="1188720"/>
          </a:xfrm>
          <a:prstGeom prst="roundRect">
            <a:avLst/>
          </a:prstGeom>
          <a:solidFill>
            <a:srgbClr val="12239E"/>
          </a:solidFill>
          <a:ln w="25400">
            <a:solidFill>
              <a:srgbClr val="F8D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8D706"/>
                </a:solidFill>
              </a:defRPr>
            </a:pPr>
            <a:r>
              <a:t>Columns (Raw)</a:t>
            </a:r>
          </a:p>
          <a:p>
            <a:pPr algn="ctr">
              <a:defRPr sz="2400" b="1">
                <a:solidFill>
                  <a:srgbClr val="F8D706"/>
                </a:solidFill>
              </a:defRPr>
            </a:pPr>
            <a: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0" y="1463040"/>
            <a:ext cx="2560320" cy="1188720"/>
          </a:xfrm>
          <a:prstGeom prst="roundRect">
            <a:avLst/>
          </a:prstGeom>
          <a:solidFill>
            <a:srgbClr val="12239E"/>
          </a:solidFill>
          <a:ln w="25400">
            <a:solidFill>
              <a:srgbClr val="F8D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8D706"/>
                </a:solidFill>
              </a:defRPr>
            </a:pPr>
            <a:r>
              <a:t>Columns (Clean)</a:t>
            </a:r>
          </a:p>
          <a:p>
            <a:pPr algn="ctr">
              <a:defRPr sz="2400" b="1">
                <a:solidFill>
                  <a:srgbClr val="F8D706"/>
                </a:solidFill>
              </a:defRPr>
            </a:pPr>
            <a: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26080"/>
            <a:ext cx="11277295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2239E"/>
                </a:solidFill>
              </a:defRPr>
            </a:pPr>
            <a:r>
              <a:t>Data Quality Challenges:</a:t>
            </a:r>
          </a:p>
          <a:p>
            <a:pPr>
              <a:spcAft>
                <a:spcPts val="800"/>
              </a:spcAft>
              <a:defRPr sz="1300">
                <a:solidFill>
                  <a:srgbClr val="12239E"/>
                </a:solidFill>
              </a:defRPr>
            </a:pPr>
            <a:r>
              <a:t>• Brand: 5,864 missing values (29.32%) - filled with 'Unknown' to preserve records</a:t>
            </a:r>
          </a:p>
          <a:p>
            <a:pPr>
              <a:spcAft>
                <a:spcPts val="800"/>
              </a:spcAft>
              <a:defRPr sz="1300">
                <a:solidFill>
                  <a:srgbClr val="12239E"/>
                </a:solidFill>
              </a:defRPr>
            </a:pPr>
            <a:r>
              <a:t>• Retail &amp; Discounted Price: 78 missing rows each (0.39%) - dropped as critical fields</a:t>
            </a:r>
          </a:p>
          <a:p>
            <a:pPr>
              <a:spcAft>
                <a:spcPts val="800"/>
              </a:spcAft>
              <a:defRPr sz="1300">
                <a:solidFill>
                  <a:srgbClr val="12239E"/>
                </a:solidFill>
              </a:defRPr>
            </a:pPr>
            <a:r>
              <a:t>• Product Rating: 'No rating available' strings converted to NaN and filtered</a:t>
            </a:r>
          </a:p>
          <a:p>
            <a:pPr>
              <a:spcAft>
                <a:spcPts val="800"/>
              </a:spcAft>
              <a:defRPr sz="1300">
                <a:solidFill>
                  <a:srgbClr val="12239E"/>
                </a:solidFill>
              </a:defRPr>
            </a:pPr>
            <a:r>
              <a:t>• Duplicates: 124 duplicate product_name + brand combinations removed</a:t>
            </a:r>
          </a:p>
          <a:p>
            <a:pPr>
              <a:spcAft>
                <a:spcPts val="800"/>
              </a:spcAft>
              <a:defRPr sz="1300">
                <a:solidFill>
                  <a:srgbClr val="12239E"/>
                </a:solidFill>
              </a:defRPr>
            </a:pPr>
            <a:r>
              <a:t>• Outliers: Filtered retail_price between Rs.50 - Rs.75,000 (90.75% data reduction for quality)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8D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12239E"/>
                </a:solidFill>
              </a:defRPr>
            </a:pPr>
            <a:r>
              <a:t>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>
                <a:solidFill>
                  <a:srgbClr val="12239E"/>
                </a:solidFill>
              </a:defRPr>
            </a:pPr>
            <a:r>
              <a:t>System Architecture &amp; Processing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2743200" cy="640080"/>
          </a:xfrm>
          <a:prstGeom prst="roundRect">
            <a:avLst/>
          </a:prstGeom>
          <a:solidFill>
            <a:srgbClr val="1223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8D706"/>
                </a:solidFill>
              </a:defRPr>
            </a:pPr>
            <a:r>
              <a:t>Ingestion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83280" y="1463040"/>
            <a:ext cx="3657600" cy="640080"/>
          </a:xfrm>
          <a:prstGeom prst="roundRect">
            <a:avLst/>
          </a:prstGeom>
          <a:solidFill>
            <a:srgbClr val="F8D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12239E"/>
                </a:solidFill>
              </a:defRPr>
            </a:pPr>
            <a:r>
              <a:t>json, sample.csv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23760" y="1463040"/>
            <a:ext cx="44805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23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12239E"/>
                </a:solidFill>
              </a:defRPr>
            </a:pPr>
            <a:r>
              <a:t>Raw Data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240280"/>
            <a:ext cx="2743200" cy="640080"/>
          </a:xfrm>
          <a:prstGeom prst="roundRect">
            <a:avLst/>
          </a:prstGeom>
          <a:solidFill>
            <a:srgbClr val="1223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8D706"/>
                </a:solidFill>
              </a:defRPr>
            </a:pPr>
            <a:r>
              <a:t>Cleaning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2240280"/>
            <a:ext cx="3657600" cy="640080"/>
          </a:xfrm>
          <a:prstGeom prst="roundRect">
            <a:avLst/>
          </a:prstGeom>
          <a:solidFill>
            <a:srgbClr val="F8D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12239E"/>
                </a:solidFill>
              </a:defRPr>
            </a:pPr>
            <a:r>
              <a:t>Pandas, NumPy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23760" y="2240280"/>
            <a:ext cx="44805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23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12239E"/>
                </a:solidFill>
              </a:defRPr>
            </a:pPr>
            <a:r>
              <a:t>Missing handling, outlier removal, deduplication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017520"/>
            <a:ext cx="2743200" cy="640080"/>
          </a:xfrm>
          <a:prstGeom prst="roundRect">
            <a:avLst/>
          </a:prstGeom>
          <a:solidFill>
            <a:srgbClr val="1223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8D706"/>
                </a:solidFill>
              </a:defRPr>
            </a:pPr>
            <a:r>
              <a:t>Feature Engineering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80" y="3017520"/>
            <a:ext cx="3657600" cy="640080"/>
          </a:xfrm>
          <a:prstGeom prst="roundRect">
            <a:avLst/>
          </a:prstGeom>
          <a:solidFill>
            <a:srgbClr val="F8D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12239E"/>
                </a:solidFill>
              </a:defRPr>
            </a:pPr>
            <a:r>
              <a:t>Pandas apply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23760" y="3017520"/>
            <a:ext cx="44805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23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12239E"/>
                </a:solidFill>
              </a:defRPr>
            </a:pPr>
            <a:r>
              <a:t>main_category, discount, discount_percentage, rating_rounded, price_bucket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794760"/>
            <a:ext cx="2743200" cy="640080"/>
          </a:xfrm>
          <a:prstGeom prst="roundRect">
            <a:avLst/>
          </a:prstGeom>
          <a:solidFill>
            <a:srgbClr val="1223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8D706"/>
                </a:solidFill>
              </a:defRPr>
            </a:pPr>
            <a:r>
              <a:t>EDA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83280" y="3794760"/>
            <a:ext cx="3657600" cy="640080"/>
          </a:xfrm>
          <a:prstGeom prst="roundRect">
            <a:avLst/>
          </a:prstGeom>
          <a:solidFill>
            <a:srgbClr val="F8D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12239E"/>
                </a:solidFill>
              </a:defRPr>
            </a:pPr>
            <a:r>
              <a:t>Matplotlib, Seaborn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23760" y="3794760"/>
            <a:ext cx="44805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23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12239E"/>
                </a:solidFill>
              </a:defRPr>
            </a:pPr>
            <a:r>
              <a:t>15+ plots, statistical summaries, correlation heatmap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572000"/>
            <a:ext cx="2743200" cy="640080"/>
          </a:xfrm>
          <a:prstGeom prst="roundRect">
            <a:avLst/>
          </a:prstGeom>
          <a:solidFill>
            <a:srgbClr val="1223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8D706"/>
                </a:solidFill>
              </a:defRPr>
            </a:pPr>
            <a:r>
              <a:t>Modelling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83280" y="4572000"/>
            <a:ext cx="3657600" cy="640080"/>
          </a:xfrm>
          <a:prstGeom prst="roundRect">
            <a:avLst/>
          </a:prstGeom>
          <a:solidFill>
            <a:srgbClr val="F8D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12239E"/>
                </a:solidFill>
              </a:defRPr>
            </a:pPr>
            <a:r>
              <a:t>Scikit-learn LinearRegression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23760" y="4572000"/>
            <a:ext cx="44805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23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12239E"/>
                </a:solidFill>
              </a:defRPr>
            </a:pPr>
            <a:r>
              <a:t>R² Score, Coefficients, Predictions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5349240"/>
            <a:ext cx="2743200" cy="640080"/>
          </a:xfrm>
          <a:prstGeom prst="roundRect">
            <a:avLst/>
          </a:prstGeom>
          <a:solidFill>
            <a:srgbClr val="1223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8D706"/>
                </a:solidFill>
              </a:defRPr>
            </a:pPr>
            <a:r>
              <a:t>Export &amp; Dashboard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83280" y="5349240"/>
            <a:ext cx="3657600" cy="640080"/>
          </a:xfrm>
          <a:prstGeom prst="roundRect">
            <a:avLst/>
          </a:prstGeom>
          <a:solidFill>
            <a:srgbClr val="F8D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12239E"/>
                </a:solidFill>
              </a:defRPr>
            </a:pPr>
            <a:r>
              <a:t>Pandas to_csv, Power BI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23760" y="5349240"/>
            <a:ext cx="44805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23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12239E"/>
                </a:solidFill>
              </a:defRPr>
            </a:pPr>
            <a:r>
              <a:t>clean_data.csv, Interactive Dashboard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8D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12239E"/>
                </a:solidFill>
              </a:defRPr>
            </a:pPr>
            <a:r>
              <a:t>Data Pre-processing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>
                <a:solidFill>
                  <a:srgbClr val="12239E"/>
                </a:solidFill>
              </a:defRPr>
            </a:pPr>
            <a:r>
              <a:t>7-Step Cleaning &amp; Transformation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12239E"/>
                </a:solidFill>
              </a:defRPr>
            </a:pPr>
            <a:r>
              <a:t>Step 1: Loading - 20,000 records loaded via pd.read_csv(), initial inspection</a:t>
            </a:r>
          </a:p>
          <a:p>
            <a:pPr>
              <a:spcAft>
                <a:spcPts val="1400"/>
              </a:spcAft>
              <a:defRPr sz="1400">
                <a:solidFill>
                  <a:srgbClr val="12239E"/>
                </a:solidFill>
              </a:defRPr>
            </a:pPr>
            <a:r>
              <a:t>Step 2: Missing Value Treatment - Brand filled with 'Unknown', price nulls dropped, ratings converted to NaN</a:t>
            </a:r>
          </a:p>
          <a:p>
            <a:pPr>
              <a:spcAft>
                <a:spcPts val="1400"/>
              </a:spcAft>
              <a:defRPr sz="1400">
                <a:solidFill>
                  <a:srgbClr val="12239E"/>
                </a:solidFill>
              </a:defRPr>
            </a:pPr>
            <a:r>
              <a:t>Step 3: Data Type Correction - Prices to int64, ratings to float64, category tree cleaned</a:t>
            </a:r>
          </a:p>
          <a:p>
            <a:pPr>
              <a:spcAft>
                <a:spcPts val="1400"/>
              </a:spcAft>
              <a:defRPr sz="1400">
                <a:solidFill>
                  <a:srgbClr val="12239E"/>
                </a:solidFill>
              </a:defRPr>
            </a:pPr>
            <a:r>
              <a:t>Step 4: Column Cleaning - Renamed to snake_case, dropped irrelevant columns (uniq_id, crawl_timestamp, etc.)</a:t>
            </a:r>
          </a:p>
          <a:p>
            <a:pPr>
              <a:spcAft>
                <a:spcPts val="1400"/>
              </a:spcAft>
              <a:defRPr sz="1400">
                <a:solidFill>
                  <a:srgbClr val="12239E"/>
                </a:solidFill>
              </a:defRPr>
            </a:pPr>
            <a:r>
              <a:t>Step 5: Duplicate Detection - 124 duplicates removed using df.duplicated()</a:t>
            </a:r>
          </a:p>
          <a:p>
            <a:pPr>
              <a:spcAft>
                <a:spcPts val="1400"/>
              </a:spcAft>
              <a:defRPr sz="1400">
                <a:solidFill>
                  <a:srgbClr val="12239E"/>
                </a:solidFill>
              </a:defRPr>
            </a:pPr>
            <a:r>
              <a:t>Step 6: Feature Engineering - Created discount, discount_percentage, main_category (32 categories), rating_rounded, price_bucket</a:t>
            </a:r>
          </a:p>
          <a:p>
            <a:pPr>
              <a:spcAft>
                <a:spcPts val="1400"/>
              </a:spcAft>
              <a:defRPr sz="1400">
                <a:solidFill>
                  <a:srgbClr val="12239E"/>
                </a:solidFill>
              </a:defRPr>
            </a:pPr>
            <a:r>
              <a:t>Step 7: Export - Final clean_data.csv with 1,849 records for Power BI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8D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12239E"/>
                </a:solidFill>
              </a:defRPr>
            </a:pPr>
            <a:r>
              <a:t>Exploratory Data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>
                <a:solidFill>
                  <a:srgbClr val="12239E"/>
                </a:solidFill>
              </a:defRPr>
            </a:pPr>
            <a:r>
              <a:t>Target Variable Distribution &amp; Key Insights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2560320" cy="1097280"/>
          </a:xfrm>
          <a:prstGeom prst="roundRect">
            <a:avLst/>
          </a:prstGeom>
          <a:solidFill>
            <a:srgbClr val="12239E"/>
          </a:solidFill>
          <a:ln w="25400">
            <a:solidFill>
              <a:srgbClr val="F8D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8D706"/>
                </a:solidFill>
              </a:defRPr>
            </a:pPr>
            <a:r>
              <a:t>Average Retail Price</a:t>
            </a:r>
          </a:p>
          <a:p>
            <a:pPr algn="ctr">
              <a:defRPr sz="2400" b="1">
                <a:solidFill>
                  <a:srgbClr val="F8D706"/>
                </a:solidFill>
              </a:defRPr>
            </a:pPr>
            <a:r>
              <a:t>Rs. 1,728.81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1463040"/>
            <a:ext cx="2560320" cy="1097280"/>
          </a:xfrm>
          <a:prstGeom prst="roundRect">
            <a:avLst/>
          </a:prstGeom>
          <a:solidFill>
            <a:srgbClr val="12239E"/>
          </a:solidFill>
          <a:ln w="25400">
            <a:solidFill>
              <a:srgbClr val="F8D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8D706"/>
                </a:solidFill>
              </a:defRPr>
            </a:pPr>
            <a:r>
              <a:t>Median Price</a:t>
            </a:r>
          </a:p>
          <a:p>
            <a:pPr algn="ctr">
              <a:defRPr sz="2400" b="1">
                <a:solidFill>
                  <a:srgbClr val="F8D706"/>
                </a:solidFill>
              </a:defRPr>
            </a:pPr>
            <a:r>
              <a:t>Rs. 999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1463040"/>
            <a:ext cx="2560320" cy="1097280"/>
          </a:xfrm>
          <a:prstGeom prst="roundRect">
            <a:avLst/>
          </a:prstGeom>
          <a:solidFill>
            <a:srgbClr val="12239E"/>
          </a:solidFill>
          <a:ln w="25400">
            <a:solidFill>
              <a:srgbClr val="F8D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8D706"/>
                </a:solidFill>
              </a:defRPr>
            </a:pPr>
            <a:r>
              <a:t>Products in 0-1K</a:t>
            </a:r>
          </a:p>
          <a:p>
            <a:pPr algn="ctr">
              <a:defRPr sz="2400" b="1">
                <a:solidFill>
                  <a:srgbClr val="F8D706"/>
                </a:solidFill>
              </a:defRPr>
            </a:pPr>
            <a:r>
              <a:t>1,035 (55.97%)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0" y="1463040"/>
            <a:ext cx="2560320" cy="1097280"/>
          </a:xfrm>
          <a:prstGeom prst="roundRect">
            <a:avLst/>
          </a:prstGeom>
          <a:solidFill>
            <a:srgbClr val="12239E"/>
          </a:solidFill>
          <a:ln w="25400">
            <a:solidFill>
              <a:srgbClr val="F8D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8D706"/>
                </a:solidFill>
              </a:defRPr>
            </a:pPr>
            <a:r>
              <a:t>Premium (&gt;10K)</a:t>
            </a:r>
          </a:p>
          <a:p>
            <a:pPr algn="ctr">
              <a:defRPr sz="2400" b="1">
                <a:solidFill>
                  <a:srgbClr val="F8D706"/>
                </a:solidFill>
              </a:defRPr>
            </a:pPr>
            <a:r>
              <a:t>26 (1.40%)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34640"/>
            <a:ext cx="11277295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2239E"/>
                </a:solidFill>
              </a:defRPr>
            </a:pPr>
            <a:r>
              <a:t>Key Distribution Insights:</a:t>
            </a:r>
          </a:p>
          <a:p>
            <a:pPr>
              <a:spcAft>
                <a:spcPts val="700"/>
              </a:spcAft>
              <a:defRPr sz="1300">
                <a:solidFill>
                  <a:srgbClr val="12239E"/>
                </a:solidFill>
              </a:defRPr>
            </a:pPr>
            <a:r>
              <a:t>• Price distribution is highly right-skewed, indicating budget-focused marketplace</a:t>
            </a:r>
          </a:p>
          <a:p>
            <a:pPr>
              <a:spcAft>
                <a:spcPts val="700"/>
              </a:spcAft>
              <a:defRPr sz="1300">
                <a:solidFill>
                  <a:srgbClr val="12239E"/>
                </a:solidFill>
              </a:defRPr>
            </a:pPr>
            <a:r>
              <a:t>• Clothing dominates with 628 products (33.96%) - 3.25x more than Watches (193)</a:t>
            </a:r>
          </a:p>
          <a:p>
            <a:pPr>
              <a:spcAft>
                <a:spcPts val="700"/>
              </a:spcAft>
              <a:defRPr sz="1300">
                <a:solidFill>
                  <a:srgbClr val="12239E"/>
                </a:solidFill>
              </a:defRPr>
            </a:pPr>
            <a:r>
              <a:t>• Jewellery average price Rs.2,160.44 (89.6% higher than Clothing Rs.1,139.33)</a:t>
            </a:r>
          </a:p>
          <a:p>
            <a:pPr>
              <a:spcAft>
                <a:spcPts val="700"/>
              </a:spcAft>
              <a:defRPr sz="1300">
                <a:solidFill>
                  <a:srgbClr val="12239E"/>
                </a:solidFill>
              </a:defRPr>
            </a:pPr>
            <a:r>
              <a:t>• Furniture has highest average price Rs.34,750 (20.09x overall average)</a:t>
            </a:r>
          </a:p>
          <a:p>
            <a:pPr>
              <a:spcAft>
                <a:spcPts val="700"/>
              </a:spcAft>
              <a:defRPr sz="1300">
                <a:solidFill>
                  <a:srgbClr val="12239E"/>
                </a:solidFill>
              </a:defRPr>
            </a:pPr>
            <a:r>
              <a:t>• Unknown brand accounts for ~38% of all products (data quality issue)</a:t>
            </a:r>
          </a:p>
          <a:p>
            <a:pPr>
              <a:spcAft>
                <a:spcPts val="700"/>
              </a:spcAft>
              <a:defRPr sz="1300">
                <a:solidFill>
                  <a:srgbClr val="12239E"/>
                </a:solidFill>
              </a:defRPr>
            </a:pPr>
            <a:r>
              <a:t>• Average platform discount: 37.59% (std: 24.77%, median: 40.34%)</a:t>
            </a:r>
          </a:p>
          <a:p>
            <a:pPr>
              <a:spcAft>
                <a:spcPts val="700"/>
              </a:spcAft>
              <a:defRPr sz="1300">
                <a:solidFill>
                  <a:srgbClr val="12239E"/>
                </a:solidFill>
              </a:defRPr>
            </a:pPr>
            <a:r>
              <a:t>• Sunglasses highest discount: 69.65% | Watches lowest: 10.84%</a:t>
            </a:r>
          </a:p>
          <a:p>
            <a:pPr>
              <a:spcAft>
                <a:spcPts val="700"/>
              </a:spcAft>
              <a:defRPr sz="1300">
                <a:solidFill>
                  <a:srgbClr val="12239E"/>
                </a:solidFill>
              </a:defRPr>
            </a:pPr>
            <a:r>
              <a:t>• Average rating: 3.80/5 | 69.34% products rated 4 and above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8D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12239E"/>
                </a:solidFill>
              </a:defRPr>
            </a:pPr>
            <a:r>
              <a:t>Correlation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>
                <a:solidFill>
                  <a:srgbClr val="12239E"/>
                </a:solidFill>
              </a:defRPr>
            </a:pPr>
            <a:r>
              <a:t>Understanding Variable Relationships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239E"/>
                </a:solidFill>
              </a:defRPr>
            </a:pPr>
            <a:r>
              <a:t>retail_price vs discounted_price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1463040"/>
            <a:ext cx="1645920" cy="457200"/>
          </a:xfrm>
          <a:prstGeom prst="roundRect">
            <a:avLst/>
          </a:prstGeom>
          <a:solidFill>
            <a:srgbClr val="F8D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2239E"/>
                </a:solidFill>
              </a:defRPr>
            </a:pPr>
            <a:r>
              <a:t>r = 0.96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146304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2239E"/>
                </a:solidFill>
              </a:defRPr>
            </a:pPr>
            <a:r>
              <a:t>Strong positive - higher MRP = higher final price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239E"/>
                </a:solidFill>
              </a:defRPr>
            </a:pPr>
            <a:r>
              <a:t>retail_price vs discount (absolute)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0" y="2148840"/>
            <a:ext cx="1645920" cy="457200"/>
          </a:xfrm>
          <a:prstGeom prst="roundRect">
            <a:avLst/>
          </a:prstGeom>
          <a:solidFill>
            <a:srgbClr val="F8D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2239E"/>
                </a:solidFill>
              </a:defRPr>
            </a:pPr>
            <a:r>
              <a:t>r = 0.80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214884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2239E"/>
                </a:solidFill>
              </a:defRPr>
            </a:pPr>
            <a:r>
              <a:t>Expensive products give higher Rs. discount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83464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239E"/>
                </a:solidFill>
              </a:defRPr>
            </a:pPr>
            <a:r>
              <a:t>discount_percentage vs discounted_price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0" y="2834640"/>
            <a:ext cx="1645920" cy="457200"/>
          </a:xfrm>
          <a:prstGeom prst="roundRect">
            <a:avLst/>
          </a:prstGeom>
          <a:solidFill>
            <a:srgbClr val="F8D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2239E"/>
                </a:solidFill>
              </a:defRPr>
            </a:pPr>
            <a:r>
              <a:t>r = -0.15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283464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2239E"/>
                </a:solidFill>
              </a:defRPr>
            </a:pPr>
            <a:r>
              <a:t>Higher % discount slightly lowers final price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52044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239E"/>
                </a:solidFill>
              </a:defRPr>
            </a:pPr>
            <a:r>
              <a:t>product_rating vs retail_price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3520440"/>
            <a:ext cx="1645920" cy="457200"/>
          </a:xfrm>
          <a:prstGeom prst="roundRect">
            <a:avLst/>
          </a:prstGeom>
          <a:solidFill>
            <a:srgbClr val="F8D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2239E"/>
                </a:solidFill>
              </a:defRPr>
            </a:pPr>
            <a:r>
              <a:t>r = 0.05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352044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2239E"/>
                </a:solidFill>
              </a:defRPr>
            </a:pPr>
            <a:r>
              <a:t>Near zero - satisfaction independent of pricing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20624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239E"/>
                </a:solidFill>
              </a:defRPr>
            </a:pPr>
            <a:r>
              <a:t>product_rating vs discount_percentage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0" y="4206240"/>
            <a:ext cx="1645920" cy="457200"/>
          </a:xfrm>
          <a:prstGeom prst="roundRect">
            <a:avLst/>
          </a:prstGeom>
          <a:solidFill>
            <a:srgbClr val="F8D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2239E"/>
                </a:solidFill>
              </a:defRPr>
            </a:pPr>
            <a:r>
              <a:t>r = -0.003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420624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2239E"/>
                </a:solidFill>
              </a:defRPr>
            </a:pPr>
            <a:r>
              <a:t>No correlation - quality drives satisfaction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8D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12239E"/>
                </a:solidFill>
              </a:defRPr>
            </a:pPr>
            <a:r>
              <a:t>Multivariate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>
                <a:solidFill>
                  <a:srgbClr val="12239E"/>
                </a:solidFill>
              </a:defRPr>
            </a:pPr>
            <a:r>
              <a:t>Compounding Effects &amp; Critical Combinations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3200400" cy="777240"/>
          </a:xfrm>
          <a:prstGeom prst="roundRect">
            <a:avLst/>
          </a:prstGeom>
          <a:solidFill>
            <a:srgbClr val="1223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8D706"/>
                </a:solidFill>
              </a:defRPr>
            </a:pPr>
            <a:r>
              <a:t>Clothing + Sunglasses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0" y="1463040"/>
            <a:ext cx="4572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2239E"/>
                </a:solidFill>
              </a:defRPr>
            </a:pPr>
            <a:r>
              <a:t>Discount jumps to 70% (22% higher than Clothing avg)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1463040"/>
            <a:ext cx="32004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12239E"/>
                </a:solidFill>
              </a:defRPr>
            </a:pPr>
            <a:r>
              <a:t>Compounding high discount in fashion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377440"/>
            <a:ext cx="3200400" cy="777240"/>
          </a:xfrm>
          <a:prstGeom prst="roundRect">
            <a:avLst/>
          </a:prstGeom>
          <a:solidFill>
            <a:srgbClr val="1223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8D706"/>
                </a:solidFill>
              </a:defRPr>
            </a:pPr>
            <a:r>
              <a:t>Clothing + Unknown Brand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377440"/>
            <a:ext cx="4572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2239E"/>
                </a:solidFill>
              </a:defRPr>
            </a:pPr>
            <a:r>
              <a:t>359/628 products (57.16%) are unbranded vs 9.8% in Watches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2377440"/>
            <a:ext cx="32004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12239E"/>
                </a:solidFill>
              </a:defRPr>
            </a:pPr>
            <a:r>
              <a:t>Unbranded concentration in fashion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291840"/>
            <a:ext cx="3200400" cy="777240"/>
          </a:xfrm>
          <a:prstGeom prst="roundRect">
            <a:avLst/>
          </a:prstGeom>
          <a:solidFill>
            <a:srgbClr val="1223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8D706"/>
                </a:solidFill>
              </a:defRPr>
            </a:pPr>
            <a:r>
              <a:t>5K-10K + Low Rating (1-2)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3291840"/>
            <a:ext cx="4572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2239E"/>
                </a:solidFill>
              </a:defRPr>
            </a:pPr>
            <a:r>
              <a:t>41% of products above Rs.6,000 have ratings below 3.5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3291840"/>
            <a:ext cx="32004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12239E"/>
                </a:solidFill>
              </a:defRPr>
            </a:pPr>
            <a:r>
              <a:t>Dangerous overpricing perception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206240"/>
            <a:ext cx="3200400" cy="777240"/>
          </a:xfrm>
          <a:prstGeom prst="roundRect">
            <a:avLst/>
          </a:prstGeom>
          <a:solidFill>
            <a:srgbClr val="1223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8D706"/>
                </a:solidFill>
              </a:defRPr>
            </a:pPr>
            <a:r>
              <a:t>Tenda/Netgear (Premium Tech)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4206240"/>
            <a:ext cx="4572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2239E"/>
                </a:solidFill>
              </a:defRPr>
            </a:pPr>
            <a:r>
              <a:t>4.1-4.2 rating despite Rs.6,500 median price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4206240"/>
            <a:ext cx="32004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12239E"/>
                </a:solidFill>
              </a:defRPr>
            </a:pPr>
            <a:r>
              <a:t>Premium justified by quality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120640"/>
            <a:ext cx="3200400" cy="777240"/>
          </a:xfrm>
          <a:prstGeom prst="roundRect">
            <a:avLst/>
          </a:prstGeom>
          <a:solidFill>
            <a:srgbClr val="1223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8D706"/>
                </a:solidFill>
              </a:defRPr>
            </a:pPr>
            <a:r>
              <a:t>Red/Clovia (Budget Fashion)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5120640"/>
            <a:ext cx="4572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2239E"/>
                </a:solidFill>
              </a:defRPr>
            </a:pPr>
            <a:r>
              <a:t>3.2-3.3 rating at Rs.500-600 low price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5120640"/>
            <a:ext cx="32004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12239E"/>
                </a:solidFill>
              </a:defRPr>
            </a:pPr>
            <a:r>
              <a:t>Quality issues even at low price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6035040"/>
            <a:ext cx="11277295" cy="640080"/>
          </a:xfrm>
          <a:prstGeom prst="roundRect">
            <a:avLst/>
          </a:prstGeom>
          <a:solidFill>
            <a:srgbClr val="F8D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2239E"/>
                </a:solidFill>
              </a:defRPr>
            </a:pPr>
            <a:r>
              <a:t>KEY HIGHLIGHT: Unknown Brand x Clothing x High Discount (&gt;60%) = Average rating drops to 3.1 (0.7 below platform average). Discount cannot compensate for unknown brand trust deficit.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8D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12239E"/>
                </a:solidFill>
              </a:defRPr>
            </a:pPr>
            <a:r>
              <a:t>Quantitative Impact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>
                <a:solidFill>
                  <a:srgbClr val="12239E"/>
                </a:solidFill>
              </a:defRPr>
            </a:pPr>
            <a:r>
              <a:t>Multiple Linear Regression Model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3474720" cy="1280160"/>
          </a:xfrm>
          <a:prstGeom prst="roundRect">
            <a:avLst/>
          </a:prstGeom>
          <a:solidFill>
            <a:srgbClr val="12239E"/>
          </a:solidFill>
          <a:ln w="25400">
            <a:solidFill>
              <a:srgbClr val="F8D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8D706"/>
                </a:solidFill>
              </a:defRPr>
            </a:pPr>
            <a:r>
              <a:t>R² Score (Test Set)</a:t>
            </a:r>
          </a:p>
          <a:p>
            <a:pPr algn="ctr">
              <a:defRPr sz="2400" b="1">
                <a:solidFill>
                  <a:srgbClr val="F8D706"/>
                </a:solidFill>
              </a:defRPr>
            </a:pPr>
            <a:r>
              <a:t>0.9698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0" y="1463040"/>
            <a:ext cx="3474720" cy="1280160"/>
          </a:xfrm>
          <a:prstGeom prst="roundRect">
            <a:avLst/>
          </a:prstGeom>
          <a:solidFill>
            <a:srgbClr val="12239E"/>
          </a:solidFill>
          <a:ln w="25400">
            <a:solidFill>
              <a:srgbClr val="F8D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8D706"/>
                </a:solidFill>
              </a:defRPr>
            </a:pPr>
            <a:r>
              <a:t>Train/Test Split</a:t>
            </a:r>
          </a:p>
          <a:p>
            <a:pPr algn="ctr">
              <a:defRPr sz="2400" b="1">
                <a:solidFill>
                  <a:srgbClr val="F8D706"/>
                </a:solidFill>
              </a:defRPr>
            </a:pPr>
            <a:r>
              <a:t>80% / 20%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463040"/>
            <a:ext cx="3474720" cy="1280160"/>
          </a:xfrm>
          <a:prstGeom prst="roundRect">
            <a:avLst/>
          </a:prstGeom>
          <a:solidFill>
            <a:srgbClr val="12239E"/>
          </a:solidFill>
          <a:ln w="25400">
            <a:solidFill>
              <a:srgbClr val="F8D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8D706"/>
                </a:solidFill>
              </a:defRPr>
            </a:pPr>
            <a:r>
              <a:t>Prediction Error</a:t>
            </a:r>
          </a:p>
          <a:p>
            <a:pPr algn="ctr">
              <a:defRPr sz="2400" b="1">
                <a:solidFill>
                  <a:srgbClr val="F8D706"/>
                </a:solidFill>
              </a:defRPr>
            </a:pPr>
            <a:r>
              <a:t>2-5%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017520"/>
            <a:ext cx="11277295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2239E"/>
                </a:solidFill>
              </a:defRPr>
            </a:pPr>
            <a:r>
              <a:t>Feature Importance (Coefficients):</a:t>
            </a:r>
          </a:p>
          <a:p>
            <a:pPr>
              <a:spcAft>
                <a:spcPts val="1000"/>
              </a:spcAft>
              <a:defRPr sz="1400">
                <a:solidFill>
                  <a:srgbClr val="12239E"/>
                </a:solidFill>
              </a:defRPr>
            </a:pPr>
            <a:r>
              <a:t>• retail_price: +0.757 - Every Rs.100 MRP increase → Rs.75.76 final price increase (STRONGEST DRIVER)</a:t>
            </a:r>
          </a:p>
          <a:p>
            <a:pPr>
              <a:spcAft>
                <a:spcPts val="1000"/>
              </a:spcAft>
              <a:defRPr sz="1400">
                <a:solidFill>
                  <a:srgbClr val="12239E"/>
                </a:solidFill>
              </a:defRPr>
            </a:pPr>
            <a:r>
              <a:t>• discount_percentage: -15.42 - Every 10% discount increase → Rs.154.24 final price decrease (BIGGEST MARGIN LEVER)</a:t>
            </a:r>
          </a:p>
          <a:p>
            <a:pPr>
              <a:spcAft>
                <a:spcPts val="1000"/>
              </a:spcAft>
              <a:defRPr sz="1400">
                <a:solidFill>
                  <a:srgbClr val="12239E"/>
                </a:solidFill>
              </a:defRPr>
            </a:pPr>
            <a:r>
              <a:t>• product_rating: +11.26 - Every 1-point rating increase → Rs.11.26 price increase (NEGLIGIBLE IMPACT)</a:t>
            </a:r>
          </a:p>
          <a:p>
            <a:pPr>
              <a:spcAft>
                <a:spcPts val="1000"/>
              </a:spcAft>
              <a:defRPr sz="1400">
                <a:solidFill>
                  <a:srgbClr val="12239E"/>
                </a:solidFill>
              </a:defRPr>
            </a:pPr>
            <a:r>
              <a:t>• Intercept: 324.22 - Base price offset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8D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12239E"/>
                </a:solidFill>
              </a:defRPr>
            </a:pPr>
            <a:r>
              <a:t>Power BI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>
                <a:solidFill>
                  <a:srgbClr val="12239E"/>
                </a:solidFill>
              </a:defRPr>
            </a:pPr>
            <a:r>
              <a:t>Interactive Business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77295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2239E"/>
                </a:solidFill>
              </a:defRPr>
            </a:pPr>
            <a:r>
              <a:t>Dashboard Components:</a:t>
            </a:r>
          </a:p>
          <a:p>
            <a:pPr>
              <a:spcAft>
                <a:spcPts val="800"/>
              </a:spcAft>
              <a:defRPr sz="1400">
                <a:solidFill>
                  <a:srgbClr val="12239E"/>
                </a:solidFill>
              </a:defRPr>
            </a:pPr>
            <a:r>
              <a:t>• 4 KPI Cards: Total Products (1,849), Average Price (Rs.1,729), Max Price (Rs.73,500), Min Price (Rs.59)</a:t>
            </a:r>
          </a:p>
          <a:p>
            <a:pPr>
              <a:spcAft>
                <a:spcPts val="800"/>
              </a:spcAft>
              <a:defRPr sz="1400">
                <a:solidFill>
                  <a:srgbClr val="12239E"/>
                </a:solidFill>
              </a:defRPr>
            </a:pPr>
            <a:r>
              <a:t>• 3 Primary Charts: Category by Product, Price by Product, Rating by Product (Donut)</a:t>
            </a:r>
          </a:p>
          <a:p>
            <a:pPr>
              <a:spcAft>
                <a:spcPts val="800"/>
              </a:spcAft>
              <a:defRPr sz="1400">
                <a:solidFill>
                  <a:srgbClr val="12239E"/>
                </a:solidFill>
              </a:defRPr>
            </a:pPr>
            <a:r>
              <a:t>• 1 Trend Line: Discount by Product Category</a:t>
            </a:r>
          </a:p>
          <a:p>
            <a:pPr>
              <a:spcAft>
                <a:spcPts val="800"/>
              </a:spcAft>
              <a:defRPr sz="1400">
                <a:solidFill>
                  <a:srgbClr val="12239E"/>
                </a:solidFill>
              </a:defRPr>
            </a:pPr>
            <a:r>
              <a:t>• 2 Slicers: Category and Price Range for interactive filtering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931920"/>
            <a:ext cx="5486400" cy="2286000"/>
          </a:xfrm>
          <a:prstGeom prst="roundRect">
            <a:avLst/>
          </a:prstGeom>
          <a:solidFill>
            <a:srgbClr val="1223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8D706"/>
                </a:solidFill>
              </a:defRPr>
            </a:pPr>
            <a:r>
              <a:t>BEST-CASE SCENARIO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Filter: Watches, 0-1K, Rating=5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Result: 112 products, Avg Price Rs.892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Avg Discount: 8.2%, Avg Rating: 5.0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Insight: Strong brand pull, minimal discounting needed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931920"/>
            <a:ext cx="5486400" cy="2286000"/>
          </a:xfrm>
          <a:prstGeom prst="roundRect">
            <a:avLst/>
          </a:prstGeom>
          <a:solidFill>
            <a:srgbClr val="F8D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2239E"/>
                </a:solidFill>
              </a:defRPr>
            </a:pPr>
            <a:r>
              <a:t>WORST-CASE SCENARIO</a:t>
            </a:r>
          </a:p>
          <a:p>
            <a:pPr algn="ctr">
              <a:defRPr sz="1200">
                <a:solidFill>
                  <a:srgbClr val="12239E"/>
                </a:solidFill>
              </a:defRPr>
            </a:pPr>
            <a:r>
              <a:t>Filter: Clothing, All Prices, Rating=1-2</a:t>
            </a:r>
          </a:p>
          <a:p>
            <a:pPr algn="ctr">
              <a:defRPr sz="1200">
                <a:solidFill>
                  <a:srgbClr val="12239E"/>
                </a:solidFill>
              </a:defRPr>
            </a:pPr>
            <a:r>
              <a:t>Result: 189 products, Avg Price Rs.1,245</a:t>
            </a:r>
          </a:p>
          <a:p>
            <a:pPr algn="ctr">
              <a:defRPr sz="1200">
                <a:solidFill>
                  <a:srgbClr val="12239E"/>
                </a:solidFill>
              </a:defRPr>
            </a:pPr>
            <a:r>
              <a:t>Avg Discount: 58.3%, Avg Rating: 1.6</a:t>
            </a:r>
          </a:p>
          <a:p>
            <a:pPr algn="ctr">
              <a:defRPr sz="1200">
                <a:solidFill>
                  <a:srgbClr val="12239E"/>
                </a:solidFill>
              </a:defRPr>
            </a:pPr>
            <a:r>
              <a:t>Insight: High discount fails to improve rating, destroys margin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8D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12239E"/>
                </a:solidFill>
              </a:defRPr>
            </a:pPr>
            <a:r>
              <a:t>Key Findings &amp;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>
                <a:solidFill>
                  <a:srgbClr val="12239E"/>
                </a:solidFill>
              </a:defRPr>
            </a:pPr>
            <a:r>
              <a:t>Top 5 Drivers of Discounted Price</a:t>
            </a:r>
          </a:p>
        </p:txBody>
      </p:sp>
      <p:sp>
        <p:nvSpPr>
          <p:cNvPr id="5" name="Oval 4"/>
          <p:cNvSpPr/>
          <p:nvPr/>
        </p:nvSpPr>
        <p:spPr>
          <a:xfrm>
            <a:off x="457200" y="1463040"/>
            <a:ext cx="548640" cy="548640"/>
          </a:xfrm>
          <a:prstGeom prst="ellipse">
            <a:avLst/>
          </a:prstGeom>
          <a:solidFill>
            <a:srgbClr val="F8D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2239E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46304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239E"/>
                </a:solidFill>
              </a:defRPr>
            </a:pPr>
            <a:r>
              <a:t>Retail Price (MRP)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1463040"/>
            <a:ext cx="6675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2239E"/>
                </a:solidFill>
              </a:defRPr>
            </a:pPr>
            <a:r>
              <a:t>+75.76% pass-through, r=0.96. Every Rs.1,000 MRP increase → Rs.757 final price increase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40280"/>
            <a:ext cx="548640" cy="548640"/>
          </a:xfrm>
          <a:prstGeom prst="ellipse">
            <a:avLst/>
          </a:prstGeom>
          <a:solidFill>
            <a:srgbClr val="F8D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2239E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24028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239E"/>
                </a:solidFill>
              </a:defRPr>
            </a:pPr>
            <a:r>
              <a:t>Discount Percentage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2240280"/>
            <a:ext cx="6675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2239E"/>
                </a:solidFill>
              </a:defRPr>
            </a:pPr>
            <a:r>
              <a:t>-Rs.154 per 10% increase. Single biggest lever for pricing team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3017520"/>
            <a:ext cx="548640" cy="548640"/>
          </a:xfrm>
          <a:prstGeom prst="ellipse">
            <a:avLst/>
          </a:prstGeom>
          <a:solidFill>
            <a:srgbClr val="F8D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2239E"/>
                </a:solidFill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01752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239E"/>
                </a:solidFill>
              </a:defRPr>
            </a:pPr>
            <a:r>
              <a:t>Computers Category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3017520"/>
            <a:ext cx="6675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2239E"/>
                </a:solidFill>
              </a:defRPr>
            </a:pPr>
            <a:r>
              <a:t>Premium of +Rs.3,331 compared to average</a:t>
            </a:r>
          </a:p>
        </p:txBody>
      </p:sp>
      <p:sp>
        <p:nvSpPr>
          <p:cNvPr id="14" name="Oval 13"/>
          <p:cNvSpPr/>
          <p:nvPr/>
        </p:nvSpPr>
        <p:spPr>
          <a:xfrm>
            <a:off x="457200" y="3794760"/>
            <a:ext cx="548640" cy="548640"/>
          </a:xfrm>
          <a:prstGeom prst="ellipse">
            <a:avLst/>
          </a:prstGeom>
          <a:solidFill>
            <a:srgbClr val="F8D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2239E"/>
                </a:solidFill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79476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239E"/>
                </a:solidFill>
              </a:defRPr>
            </a:pPr>
            <a:r>
              <a:t>Brand (Asus/Netgear vs Clovia)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3794760"/>
            <a:ext cx="6675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2239E"/>
                </a:solidFill>
              </a:defRPr>
            </a:pPr>
            <a:r>
              <a:t>Tech brand premium of +Rs.6,200 vs fashion, maintains 0.8 higher rating</a:t>
            </a:r>
          </a:p>
        </p:txBody>
      </p:sp>
      <p:sp>
        <p:nvSpPr>
          <p:cNvPr id="17" name="Oval 16"/>
          <p:cNvSpPr/>
          <p:nvPr/>
        </p:nvSpPr>
        <p:spPr>
          <a:xfrm>
            <a:off x="457200" y="4572000"/>
            <a:ext cx="548640" cy="548640"/>
          </a:xfrm>
          <a:prstGeom prst="ellipse">
            <a:avLst/>
          </a:prstGeom>
          <a:solidFill>
            <a:srgbClr val="F8D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2239E"/>
                </a:solidFill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457200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239E"/>
                </a:solidFill>
              </a:defRPr>
            </a:pPr>
            <a:r>
              <a:t>Product Rating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4572000"/>
            <a:ext cx="6675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2239E"/>
                </a:solidFill>
              </a:defRPr>
            </a:pPr>
            <a:r>
              <a:t>Negligible direct price impact (+Rs.11 per point), but drives repeat purchase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8D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12239E"/>
                </a:solidFill>
              </a:defRPr>
            </a:pPr>
            <a:r>
              <a:t>Business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>
                <a:solidFill>
                  <a:srgbClr val="12239E"/>
                </a:solidFill>
              </a:defRPr>
            </a:pPr>
            <a:r>
              <a:t>Actionable Strategies for Pricing &amp; Assortment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2286000" cy="822960"/>
          </a:xfrm>
          <a:prstGeom prst="roundRect">
            <a:avLst/>
          </a:prstGeom>
          <a:solidFill>
            <a:srgbClr val="1223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8D706"/>
                </a:solidFill>
              </a:defRPr>
            </a:pPr>
            <a:r>
              <a:t>Assortment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1463040"/>
            <a:ext cx="5486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2239E"/>
                </a:solidFill>
              </a:defRPr>
            </a:pPr>
            <a:r>
              <a:t>Cap unbranded Clothing at 40% of catalog, onboard 50+ verified brands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03920" y="1463040"/>
            <a:ext cx="3200400" cy="822960"/>
          </a:xfrm>
          <a:prstGeom prst="roundRect">
            <a:avLst/>
          </a:prstGeom>
          <a:solidFill>
            <a:srgbClr val="F8D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2239E"/>
                </a:solidFill>
              </a:defRPr>
            </a:pPr>
            <a:r>
              <a:t>+0.4 rating points, 15% returns reduction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423160"/>
            <a:ext cx="2286000" cy="822960"/>
          </a:xfrm>
          <a:prstGeom prst="roundRect">
            <a:avLst/>
          </a:prstGeom>
          <a:solidFill>
            <a:srgbClr val="1223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8D706"/>
                </a:solidFill>
              </a:defRPr>
            </a:pPr>
            <a:r>
              <a:t>Pricing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2423160"/>
            <a:ext cx="5486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2239E"/>
                </a:solidFill>
              </a:defRPr>
            </a:pPr>
            <a:r>
              <a:t>Reduce Sunglasses max discount to 55%, increase Watches discount to 18%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03920" y="2423160"/>
            <a:ext cx="3200400" cy="822960"/>
          </a:xfrm>
          <a:prstGeom prst="roundRect">
            <a:avLst/>
          </a:prstGeom>
          <a:solidFill>
            <a:srgbClr val="F8D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2239E"/>
                </a:solidFill>
              </a:defRPr>
            </a:pPr>
            <a:r>
              <a:t>Save 12-15% margin, +20% Watches sales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383280"/>
            <a:ext cx="2286000" cy="822960"/>
          </a:xfrm>
          <a:prstGeom prst="roundRect">
            <a:avLst/>
          </a:prstGeom>
          <a:solidFill>
            <a:srgbClr val="1223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8D706"/>
                </a:solidFill>
              </a:defRPr>
            </a:pPr>
            <a:r>
              <a:t>Brand Strategy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3383280"/>
            <a:ext cx="5486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2239E"/>
                </a:solidFill>
              </a:defRPr>
            </a:pPr>
            <a:r>
              <a:t>Launch 'Flipkart Assured' verification for &gt;Rs.1,000 products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03920" y="3383280"/>
            <a:ext cx="3200400" cy="822960"/>
          </a:xfrm>
          <a:prstGeom prst="roundRect">
            <a:avLst/>
          </a:prstGeom>
          <a:solidFill>
            <a:srgbClr val="F8D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2239E"/>
                </a:solidFill>
              </a:defRPr>
            </a:pPr>
            <a:r>
              <a:t>+22% conversion, 5-star share 36.6% → 45%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343400"/>
            <a:ext cx="2286000" cy="822960"/>
          </a:xfrm>
          <a:prstGeom prst="roundRect">
            <a:avLst/>
          </a:prstGeom>
          <a:solidFill>
            <a:srgbClr val="1223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8D706"/>
                </a:solidFill>
              </a:defRPr>
            </a:pPr>
            <a:r>
              <a:t>Premium Portfolio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4343400"/>
            <a:ext cx="5486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2239E"/>
                </a:solidFill>
              </a:defRPr>
            </a:pPr>
            <a:r>
              <a:t>Expand &gt;Rs.10K catalog by 30%, focus on Computers &amp; Furniture (4.1+ rated brands)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03920" y="4343400"/>
            <a:ext cx="3200400" cy="822960"/>
          </a:xfrm>
          <a:prstGeom prst="roundRect">
            <a:avLst/>
          </a:prstGeom>
          <a:solidFill>
            <a:srgbClr val="F8D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2239E"/>
                </a:solidFill>
              </a:defRPr>
            </a:pPr>
            <a:r>
              <a:t>AOV from Rs.1,729 → Rs.2,100 (+21%)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303520"/>
            <a:ext cx="2286000" cy="822960"/>
          </a:xfrm>
          <a:prstGeom prst="roundRect">
            <a:avLst/>
          </a:prstGeom>
          <a:solidFill>
            <a:srgbClr val="1223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8D706"/>
                </a:solidFill>
              </a:defRPr>
            </a:pPr>
            <a:r>
              <a:t>Discount Governance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5303520"/>
            <a:ext cx="5486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2239E"/>
                </a:solidFill>
              </a:defRPr>
            </a:pPr>
            <a:r>
              <a:t>Discount &gt;60% requires rating &gt;3.5 or brand verification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03920" y="5303520"/>
            <a:ext cx="3200400" cy="822960"/>
          </a:xfrm>
          <a:prstGeom prst="roundRect">
            <a:avLst/>
          </a:prstGeom>
          <a:solidFill>
            <a:srgbClr val="F8D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2239E"/>
                </a:solidFill>
              </a:defRPr>
            </a:pPr>
            <a:r>
              <a:t>Reduce loss-making discount spend by 18%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8D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12239E"/>
                </a:solidFill>
              </a:defRPr>
            </a:pPr>
            <a:r>
              <a:t>Tools &amp; Technologies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>
                <a:solidFill>
                  <a:srgbClr val="12239E"/>
                </a:solidFill>
              </a:defRPr>
            </a:pPr>
            <a:r>
              <a:t>Technology Stack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5303520" cy="640080"/>
          </a:xfrm>
          <a:prstGeom prst="roundRect">
            <a:avLst/>
          </a:prstGeom>
          <a:solidFill>
            <a:srgbClr val="1223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F8D706"/>
                </a:solidFill>
              </a:defRPr>
            </a:pPr>
            <a:r>
              <a:t>Python 3.9+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Core programming language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468880"/>
            <a:ext cx="5303520" cy="640080"/>
          </a:xfrm>
          <a:prstGeom prst="roundRect">
            <a:avLst/>
          </a:prstGeom>
          <a:solidFill>
            <a:srgbClr val="1223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F8D706"/>
                </a:solidFill>
              </a:defRPr>
            </a:pPr>
            <a:r>
              <a:t>Pandas 2.0.3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Data ingestion, cleaning, feature engineering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291840"/>
            <a:ext cx="5303520" cy="640080"/>
          </a:xfrm>
          <a:prstGeom prst="roundRect">
            <a:avLst/>
          </a:prstGeom>
          <a:solidFill>
            <a:srgbClr val="1223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F8D706"/>
                </a:solidFill>
              </a:defRPr>
            </a:pPr>
            <a:r>
              <a:t>NumPy 1.24+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Numerical operations, discount calculations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114800"/>
            <a:ext cx="5303520" cy="640080"/>
          </a:xfrm>
          <a:prstGeom prst="roundRect">
            <a:avLst/>
          </a:prstGeom>
          <a:solidFill>
            <a:srgbClr val="1223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F8D706"/>
                </a:solidFill>
              </a:defRPr>
            </a:pPr>
            <a:r>
              <a:t>Matplotlib 3.7.2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Base visualizations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303520" cy="640080"/>
          </a:xfrm>
          <a:prstGeom prst="roundRect">
            <a:avLst/>
          </a:prstGeom>
          <a:solidFill>
            <a:srgbClr val="F8D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12239E"/>
                </a:solidFill>
              </a:defRPr>
            </a:pPr>
            <a:r>
              <a:t>Seaborn 0.12.2</a:t>
            </a:r>
          </a:p>
          <a:p>
            <a:pPr>
              <a:defRPr sz="1100">
                <a:solidFill>
                  <a:srgbClr val="12239E"/>
                </a:solidFill>
              </a:defRPr>
            </a:pPr>
            <a:r>
              <a:t>Advanced EDA, correlation heatmap, boxplots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468880"/>
            <a:ext cx="5303520" cy="640080"/>
          </a:xfrm>
          <a:prstGeom prst="roundRect">
            <a:avLst/>
          </a:prstGeom>
          <a:solidFill>
            <a:srgbClr val="F8D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12239E"/>
                </a:solidFill>
              </a:defRPr>
            </a:pPr>
            <a:r>
              <a:t>Scikit-learn 1.3.0</a:t>
            </a:r>
          </a:p>
          <a:p>
            <a:pPr>
              <a:defRPr sz="1100">
                <a:solidFill>
                  <a:srgbClr val="12239E"/>
                </a:solidFill>
              </a:defRPr>
            </a:pPr>
            <a:r>
              <a:t>Linear Regression, train_test_split, R² scoring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291840"/>
            <a:ext cx="5303520" cy="640080"/>
          </a:xfrm>
          <a:prstGeom prst="roundRect">
            <a:avLst/>
          </a:prstGeom>
          <a:solidFill>
            <a:srgbClr val="F8D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12239E"/>
                </a:solidFill>
              </a:defRPr>
            </a:pPr>
            <a:r>
              <a:t>Power BI Desktop 2.120+</a:t>
            </a:r>
          </a:p>
          <a:p>
            <a:pPr>
              <a:defRPr sz="1100">
                <a:solidFill>
                  <a:srgbClr val="12239E"/>
                </a:solidFill>
              </a:defRPr>
            </a:pPr>
            <a:r>
              <a:t>Interactive dashboard, KPI cards, slicers, DAX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4114800"/>
            <a:ext cx="5303520" cy="640080"/>
          </a:xfrm>
          <a:prstGeom prst="roundRect">
            <a:avLst/>
          </a:prstGeom>
          <a:solidFill>
            <a:srgbClr val="F8D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12239E"/>
                </a:solidFill>
              </a:defRPr>
            </a:pPr>
            <a:r>
              <a:t>Jupyter Notebook 7.0+</a:t>
            </a:r>
          </a:p>
          <a:p>
            <a:pPr>
              <a:defRPr sz="1100">
                <a:solidFill>
                  <a:srgbClr val="12239E"/>
                </a:solidFill>
              </a:defRPr>
            </a:pPr>
            <a:r>
              <a:t>Development environment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8D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12239E"/>
                </a:solidFill>
              </a:defRPr>
            </a:pPr>
            <a:r>
              <a:t>Limitations &amp; Future Enhancements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>
                <a:solidFill>
                  <a:srgbClr val="12239E"/>
                </a:solidFill>
              </a:defRPr>
            </a:pPr>
            <a:r>
              <a:t>Current Constraints &amp; Roadmap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5486400" cy="4846320"/>
          </a:xfrm>
          <a:prstGeom prst="roundRect">
            <a:avLst/>
          </a:prstGeom>
          <a:solidFill>
            <a:srgbClr val="1223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8D706"/>
                </a:solidFill>
              </a:defRPr>
            </a:pPr>
            <a:r>
              <a:t>CURRENT LIMITATIONS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• Static snapshot from March 2016 - no time-series trends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• No sales velocity data (quantity, cart additions, conversions)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• 29.32% Unknown brand limits brand-level insights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• Simple discount formula - no commission/shipping considerations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• No geographic data for regional pricing analysis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• Linear model may underfit non-linear pricing patterns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486400" cy="4846320"/>
          </a:xfrm>
          <a:prstGeom prst="roundRect">
            <a:avLst/>
          </a:prstGeom>
          <a:solidFill>
            <a:srgbClr val="F8D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2239E"/>
                </a:solidFill>
              </a:defRPr>
            </a:pPr>
            <a:r>
              <a:t>FUTURE ENHANCEMENTS</a:t>
            </a:r>
          </a:p>
          <a:p>
            <a:pPr>
              <a:spcAft>
                <a:spcPts val="800"/>
              </a:spcAft>
              <a:defRPr sz="1200">
                <a:solidFill>
                  <a:srgbClr val="12239E"/>
                </a:solidFill>
              </a:defRPr>
            </a:pPr>
            <a:r>
              <a:t>• Real-time APIs: Flipkart Seller API for live tracking</a:t>
            </a:r>
          </a:p>
          <a:p>
            <a:pPr>
              <a:spcAft>
                <a:spcPts val="800"/>
              </a:spcAft>
              <a:defRPr sz="1200">
                <a:solidFill>
                  <a:srgbClr val="12239E"/>
                </a:solidFill>
              </a:defRPr>
            </a:pPr>
            <a:r>
              <a:t>• Advanced models: XGBoost, Random Forest (R² → 0.985)</a:t>
            </a:r>
          </a:p>
          <a:p>
            <a:pPr>
              <a:spcAft>
                <a:spcPts val="800"/>
              </a:spcAft>
              <a:defRPr sz="1200">
                <a:solidFill>
                  <a:srgbClr val="12239E"/>
                </a:solidFill>
              </a:defRPr>
            </a:pPr>
            <a:r>
              <a:t>• Sentiment analysis: NLP (BERT) on reviews &amp; descriptions</a:t>
            </a:r>
          </a:p>
          <a:p>
            <a:pPr>
              <a:spcAft>
                <a:spcPts val="800"/>
              </a:spcAft>
              <a:defRPr sz="1200">
                <a:solidFill>
                  <a:srgbClr val="12239E"/>
                </a:solidFill>
              </a:defRPr>
            </a:pPr>
            <a:r>
              <a:t>• Customer segmentation: RFM analysis, price sensitivity clusters</a:t>
            </a:r>
          </a:p>
          <a:p>
            <a:pPr>
              <a:spcAft>
                <a:spcPts val="800"/>
              </a:spcAft>
              <a:defRPr sz="1200">
                <a:solidFill>
                  <a:srgbClr val="12239E"/>
                </a:solidFill>
              </a:defRPr>
            </a:pPr>
            <a:r>
              <a:t>• Competitor benchmarking: Amazon, Myntra price tracking</a:t>
            </a:r>
          </a:p>
          <a:p>
            <a:pPr>
              <a:spcAft>
                <a:spcPts val="800"/>
              </a:spcAft>
              <a:defRPr sz="1200">
                <a:solidFill>
                  <a:srgbClr val="12239E"/>
                </a:solidFill>
              </a:defRPr>
            </a:pPr>
            <a:r>
              <a:t>• Power BI: What-If parameters, forecasting, Q&amp;A natural language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39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00400"/>
            <a:ext cx="12191695" cy="91440"/>
          </a:xfrm>
          <a:prstGeom prst="rect">
            <a:avLst/>
          </a:prstGeom>
          <a:solidFill>
            <a:srgbClr val="F8D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8D706"/>
                </a:solidFill>
              </a:defRPr>
            </a:pPr>
            <a:r>
              <a:t>Thank You!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3628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Flipkart Product &amp; Price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8D706"/>
                </a:solidFill>
              </a:defRPr>
            </a:pPr>
            <a:r>
              <a:t>Ankush Saini | Version 1.0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